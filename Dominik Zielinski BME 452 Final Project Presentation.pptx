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2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64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43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8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0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3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0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7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0169-99E1-0721-C679-855C9B0E7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Gradient-Free Optimization of Starting Posture for Maximal Jump Height in a 3-Segment Planar Model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02D4-F836-2ACE-E4F2-E42462A77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6434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Dominik Zielinski</a:t>
            </a:r>
          </a:p>
          <a:p>
            <a:r>
              <a:rPr lang="en-US" dirty="0"/>
              <a:t>Richard and Loan HILL Department of biomedical engineering</a:t>
            </a:r>
          </a:p>
          <a:p>
            <a:r>
              <a:rPr lang="en-US" dirty="0"/>
              <a:t>BME 452 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9900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2750-67D7-5424-7746-CA7D34CC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ECC66-FC4C-FE95-7D94-F764574B3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Jumping performance is highly variable</a:t>
            </a:r>
          </a:p>
          <a:p>
            <a:pPr lvl="1"/>
            <a:r>
              <a:rPr lang="en-US" sz="2000" dirty="0"/>
              <a:t>Small differences in takeoff position directly determine how efficiently force converts to height.</a:t>
            </a:r>
          </a:p>
          <a:p>
            <a:r>
              <a:rPr lang="en-US" sz="2400" dirty="0"/>
              <a:t>Maximizing jump height is a gold-standard measure of lower-body power</a:t>
            </a:r>
          </a:p>
          <a:p>
            <a:pPr lvl="1"/>
            <a:r>
              <a:rPr lang="en-US" sz="2000" dirty="0"/>
              <a:t>Used in athletic assessment, rehabilitation, and prosthetic evaluation.</a:t>
            </a:r>
          </a:p>
          <a:p>
            <a:r>
              <a:rPr lang="en-US" sz="2200" dirty="0"/>
              <a:t>Finding the optimal starting posture requires many costly trials, and real human movement is inherently noisy </a:t>
            </a:r>
          </a:p>
          <a:p>
            <a:pPr lvl="1"/>
            <a:r>
              <a:rPr lang="en-US" sz="2000" dirty="0"/>
              <a:t>Joint angles cannot be reproduced exactly, so the choice of optimizer determines both how many attempts are needed and how robust the solution is to postural variability.</a:t>
            </a:r>
          </a:p>
        </p:txBody>
      </p:sp>
    </p:spTree>
    <p:extLst>
      <p:ext uri="{BB962C8B-B14F-4D97-AF65-F5344CB8AC3E}">
        <p14:creationId xmlns:p14="http://schemas.microsoft.com/office/powerpoint/2010/main" val="1411716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2357-41CE-7B99-4334-B5A8578C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A9608-7013-863F-BFCF-4D279C65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118033" cy="4932256"/>
          </a:xfrm>
        </p:spPr>
        <p:txBody>
          <a:bodyPr>
            <a:normAutofit/>
          </a:bodyPr>
          <a:lstStyle/>
          <a:p>
            <a:r>
              <a:rPr lang="en-US" dirty="0"/>
              <a:t>Created simulation using 3 shank model</a:t>
            </a:r>
          </a:p>
          <a:p>
            <a:pPr lvl="1"/>
            <a:r>
              <a:rPr lang="en-US" dirty="0"/>
              <a:t>No gradient available; block-box ODE with discontinuous liftoff event</a:t>
            </a:r>
          </a:p>
          <a:p>
            <a:pPr lvl="1"/>
            <a:r>
              <a:rPr lang="en-US" dirty="0"/>
              <a:t>Torques given through step function at simulation start</a:t>
            </a:r>
          </a:p>
          <a:p>
            <a:pPr lvl="2"/>
            <a:r>
              <a:rPr lang="en-US" b="1" dirty="0"/>
              <a:t>Hip</a:t>
            </a:r>
            <a:r>
              <a:rPr lang="en-US" dirty="0"/>
              <a:t> = 175 Nm &amp; </a:t>
            </a:r>
            <a:r>
              <a:rPr lang="en-US" b="1" dirty="0"/>
              <a:t>Knee</a:t>
            </a:r>
            <a:r>
              <a:rPr lang="en-US" dirty="0"/>
              <a:t> = 247 Nm </a:t>
            </a:r>
            <a:r>
              <a:rPr lang="en-US" sz="1200" dirty="0"/>
              <a:t>(Harbo et al. 2012)</a:t>
            </a:r>
            <a:endParaRPr lang="en-US" dirty="0"/>
          </a:p>
          <a:p>
            <a:pPr lvl="2"/>
            <a:r>
              <a:rPr lang="en-US" b="1" dirty="0"/>
              <a:t>Ankle</a:t>
            </a:r>
            <a:r>
              <a:rPr lang="en-US" dirty="0"/>
              <a:t> = 175 Nm </a:t>
            </a:r>
            <a:r>
              <a:rPr lang="en-US" sz="1200" dirty="0"/>
              <a:t>(Hussain &amp; Frey-Law 2016)</a:t>
            </a:r>
            <a:endParaRPr lang="en-US" dirty="0"/>
          </a:p>
          <a:p>
            <a:r>
              <a:rPr lang="en-US" dirty="0"/>
              <a:t>Ground truth (GT) via high budget global search</a:t>
            </a:r>
          </a:p>
          <a:p>
            <a:r>
              <a:rPr lang="en-US" dirty="0"/>
              <a:t>Optimization:</a:t>
            </a:r>
          </a:p>
          <a:p>
            <a:pPr lvl="1"/>
            <a:r>
              <a:rPr lang="en-US" b="1" dirty="0"/>
              <a:t>Optimizers</a:t>
            </a:r>
            <a:r>
              <a:rPr lang="en-US" dirty="0"/>
              <a:t>: Bayesian Optimization (BO), Differential Evolution (DE), Covariance Matrix Adaptation Evolution Strategy (CMA-ES)</a:t>
            </a:r>
          </a:p>
          <a:p>
            <a:pPr lvl="1"/>
            <a:r>
              <a:rPr lang="en-US" b="1" dirty="0"/>
              <a:t>Parameters</a:t>
            </a:r>
            <a:r>
              <a:rPr lang="en-US" dirty="0"/>
              <a:t>: Initial Ankle </a:t>
            </a:r>
            <a:r>
              <a:rPr lang="en-US" sz="1600" dirty="0"/>
              <a:t>[-0.6, 0.1]</a:t>
            </a:r>
            <a:r>
              <a:rPr lang="en-US" dirty="0"/>
              <a:t>, Knee </a:t>
            </a:r>
            <a:r>
              <a:rPr lang="en-US" sz="1600" dirty="0"/>
              <a:t>[0.20, 1.80]</a:t>
            </a:r>
            <a:r>
              <a:rPr lang="en-US" dirty="0"/>
              <a:t>, and Hip </a:t>
            </a:r>
            <a:r>
              <a:rPr lang="en-US" sz="1600" dirty="0"/>
              <a:t>[-2.20, -0.30] </a:t>
            </a:r>
            <a:r>
              <a:rPr lang="en-US" dirty="0"/>
              <a:t>angles</a:t>
            </a:r>
          </a:p>
          <a:p>
            <a:pPr lvl="1"/>
            <a:r>
              <a:rPr lang="en-US" b="1" dirty="0"/>
              <a:t>Budget</a:t>
            </a:r>
            <a:r>
              <a:rPr lang="en-US" dirty="0"/>
              <a:t>: 150 simulator calls per method</a:t>
            </a:r>
          </a:p>
          <a:p>
            <a:pPr lvl="1"/>
            <a:r>
              <a:rPr lang="en-US" b="1" dirty="0"/>
              <a:t>Noise</a:t>
            </a:r>
            <a:r>
              <a:rPr lang="en-US" dirty="0"/>
              <a:t>: Clean, 0.025 radians, 0.05 radians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3148D4-1DAF-38D9-DDB0-07B4A3B4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80010"/>
            <a:ext cx="61436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F8711A-C605-1702-301A-51936F8BB2B7}"/>
              </a:ext>
            </a:extLst>
          </p:cNvPr>
          <p:cNvSpPr/>
          <p:nvPr/>
        </p:nvSpPr>
        <p:spPr>
          <a:xfrm>
            <a:off x="6043614" y="194045"/>
            <a:ext cx="1352550" cy="8453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Optimizer            (BO, DE, CMA-ES)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2C965-D8C0-9EBE-568E-705F0EF6DC04}"/>
              </a:ext>
            </a:extLst>
          </p:cNvPr>
          <p:cNvSpPr/>
          <p:nvPr/>
        </p:nvSpPr>
        <p:spPr>
          <a:xfrm>
            <a:off x="7431882" y="240241"/>
            <a:ext cx="764382" cy="3562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Positional Parameters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0848FB-362E-4D4B-40A3-F0E8E1F2B645}"/>
              </a:ext>
            </a:extLst>
          </p:cNvPr>
          <p:cNvSpPr/>
          <p:nvPr/>
        </p:nvSpPr>
        <p:spPr>
          <a:xfrm>
            <a:off x="7412832" y="650767"/>
            <a:ext cx="802481" cy="5038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900" dirty="0"/>
              <a:t>θ</a:t>
            </a:r>
            <a:r>
              <a:rPr lang="en-US" sz="900" dirty="0"/>
              <a:t>= [</a:t>
            </a:r>
            <a:r>
              <a:rPr lang="el-GR" sz="900" dirty="0"/>
              <a:t>θ₁, θ₂, θ₃</a:t>
            </a:r>
            <a:r>
              <a:rPr lang="en-US" sz="900" dirty="0"/>
              <a:t>] One angle per joint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35107-E303-1B01-8788-47D661CE2A11}"/>
              </a:ext>
            </a:extLst>
          </p:cNvPr>
          <p:cNvSpPr/>
          <p:nvPr/>
        </p:nvSpPr>
        <p:spPr>
          <a:xfrm>
            <a:off x="8336756" y="558376"/>
            <a:ext cx="578643" cy="4286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Starting Position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F3E24-0C91-85A5-5E0C-B3FBE6D69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6" r="24609"/>
          <a:stretch>
            <a:fillRect/>
          </a:stretch>
        </p:blipFill>
        <p:spPr>
          <a:xfrm>
            <a:off x="8336756" y="2193397"/>
            <a:ext cx="3230881" cy="40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8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D752-3846-CAA1-F382-78F7B78D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optimized jump height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93026-E0C5-D0D3-DA68-BDFF6FEE2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259" y="1850246"/>
            <a:ext cx="5991688" cy="4498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F8478C-D999-7D96-BA35-2C9D8C020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76" y="2400299"/>
            <a:ext cx="4003523" cy="350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8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F013-62F2-3AE8-A591-BBCE889B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AF73-77BE-49EF-D40A-1DD3DF93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at different noise levels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EB4D4-36B3-AB0B-518F-24AB97D44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993" y="1926880"/>
            <a:ext cx="4145007" cy="27447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C353AF-037A-3D9A-9B05-A89455F7B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496" y="1926880"/>
            <a:ext cx="4145007" cy="2744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765420-6B9F-0C39-5C79-150D1A6A1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26880"/>
            <a:ext cx="4145007" cy="27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7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1B02-6FDD-0FCB-2A7A-6D8A0AD4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71012-E894-2C8F-988F-458AE2C0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09064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 3 methods get within 1% of ground truth with 0 noise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Search space is well defined and solvable in 150 evaluations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Noise in starting position reduces jump height by 17-25%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Bayesian Optimization reaches near-optimal jump height with the fewest evaluations.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Sample efficiency makes it best suited for human trials, where each measurement is costly and posture is inherently variable.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44195-3A49-969E-C983-529F6F7E9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344" y="1845734"/>
            <a:ext cx="4985656" cy="436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670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50032"/>
      </a:accent1>
      <a:accent2>
        <a:srgbClr val="D50032"/>
      </a:accent2>
      <a:accent3>
        <a:srgbClr val="D50032"/>
      </a:accent3>
      <a:accent4>
        <a:srgbClr val="D50032"/>
      </a:accent4>
      <a:accent5>
        <a:srgbClr val="D50032"/>
      </a:accent5>
      <a:accent6>
        <a:srgbClr val="D50032"/>
      </a:accent6>
      <a:hlink>
        <a:srgbClr val="D50032"/>
      </a:hlink>
      <a:folHlink>
        <a:srgbClr val="D5003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1494</TotalTime>
  <Words>344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Gradient-Free Optimization of Starting Posture for Maximal Jump Height in a 3-Segment Planar Model</vt:lpstr>
      <vt:lpstr>Motivation</vt:lpstr>
      <vt:lpstr>Methodology</vt:lpstr>
      <vt:lpstr>Comparison of optimized jump height</vt:lpstr>
      <vt:lpstr>Optimizations at different noise levels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Zielinski, Dominik Tomasz</dc:creator>
  <cp:lastModifiedBy>Zielinski, Dominik Tomasz</cp:lastModifiedBy>
  <cp:revision>8</cp:revision>
  <dcterms:created xsi:type="dcterms:W3CDTF">2026-04-27T20:13:56Z</dcterms:created>
  <dcterms:modified xsi:type="dcterms:W3CDTF">2026-04-30T21:40:28Z</dcterms:modified>
</cp:coreProperties>
</file>