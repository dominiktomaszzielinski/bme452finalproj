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3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0B4A6-7EE6-48D9-92C6-480C2604D85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AB3A87-893B-4A65-9C10-327F0D992C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0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leadings experts within the field of exoskeletons.</a:t>
            </a:r>
          </a:p>
          <a:p>
            <a:endParaRPr lang="en-US" dirty="0"/>
          </a:p>
          <a:p>
            <a:r>
              <a:rPr lang="en-US" dirty="0"/>
              <a:t>Why would 10 leading experts come together to publish a contradictory opinion about a single paper?</a:t>
            </a:r>
          </a:p>
          <a:p>
            <a:r>
              <a:rPr lang="en-US" dirty="0"/>
              <a:t>One thing to note is usually, authors are listed in order of contribution. Here, they are listed alphabetically, signifying this is a collective statement from all of them, rather than a single lab’s opinion piece.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AB3A87-893B-4A65-9C10-327F0D992C1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90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02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38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61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75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2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7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1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60090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1809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8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3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5CCBFC5-3969-41AE-86E9-9BED2CC87A8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F40702A-84C5-46CB-BA3D-DF43B3A58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4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586-024-07382-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64898/2026.04.01.715109" TargetMode="External"/><Relationship Id="rId2" Type="http://schemas.openxmlformats.org/officeDocument/2006/relationships/hyperlink" Target="https://doi.org/10.1038/s41586-024-07382-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2F49-30F9-DC97-1AD9-E8B4611E67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cap="none" dirty="0"/>
              <a:t>Experiment-Free Exoskeleton Assistance Via Learning In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05950-3023-4115-F12E-34756DD21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708085"/>
          </a:xfrm>
        </p:spPr>
        <p:txBody>
          <a:bodyPr>
            <a:normAutofit/>
          </a:bodyPr>
          <a:lstStyle/>
          <a:p>
            <a:r>
              <a:rPr lang="en-US" dirty="0"/>
              <a:t>Paper Review By Dominik Zielinski for BME 452</a:t>
            </a:r>
          </a:p>
          <a:p>
            <a:r>
              <a:rPr lang="en-US" dirty="0"/>
              <a:t>Original paper at </a:t>
            </a:r>
            <a:r>
              <a:rPr lang="en-US" dirty="0">
                <a:hlinkClick r:id="rId2"/>
              </a:rPr>
              <a:t>https://doi.org/10.1038/s41586-024-07382-4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295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214E-91EA-C17C-7388-6FAA273B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this work.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93F4C-02AC-D9BB-BA9D-E479BE144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Exoskeletons work better when personalized to the user</a:t>
            </a:r>
          </a:p>
          <a:p>
            <a:pPr lvl="1"/>
            <a:r>
              <a:rPr lang="en-US" sz="2400" dirty="0"/>
              <a:t>Personalization today requires lengthy in-lab experiments with each subject</a:t>
            </a:r>
          </a:p>
          <a:p>
            <a:pPr lvl="1"/>
            <a:r>
              <a:rPr lang="en-US" sz="2400" dirty="0"/>
              <a:t>This paper's claim: skip the human experiments entirely </a:t>
            </a:r>
          </a:p>
          <a:p>
            <a:pPr lvl="2"/>
            <a:r>
              <a:rPr lang="en-US" sz="2400" dirty="0"/>
              <a:t>You can learn the controller in simulation, deploy directly in the real world</a:t>
            </a:r>
          </a:p>
        </p:txBody>
      </p:sp>
    </p:spTree>
    <p:extLst>
      <p:ext uri="{BB962C8B-B14F-4D97-AF65-F5344CB8AC3E}">
        <p14:creationId xmlns:p14="http://schemas.microsoft.com/office/powerpoint/2010/main" val="30179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8842-9D12-3734-A022-68C25081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667" y="594085"/>
            <a:ext cx="4448476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 (Fig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EAF18-28D2-CBD1-B337-184A9188A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4031293" cy="3931920"/>
          </a:xfrm>
        </p:spPr>
        <p:txBody>
          <a:bodyPr/>
          <a:lstStyle/>
          <a:p>
            <a:pPr marL="342900" indent="-342900">
              <a:buFont typeface="+mj-lt"/>
              <a:buAutoNum type="alphaLcParenR"/>
            </a:pPr>
            <a:r>
              <a:rPr lang="en-US" dirty="0"/>
              <a:t>Review of previous work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How the current work compares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Simulation Training (left) and immediate deployment (right)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Example of assistance for walking, running, and stair climbing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Reduced metabolic cost for walking, running, and stair climbing (Results preview)</a:t>
            </a:r>
          </a:p>
          <a:p>
            <a:pPr marL="342900" indent="-342900">
              <a:buFont typeface="+mj-lt"/>
              <a:buAutoNum type="alphaLcParenR"/>
            </a:pPr>
            <a:endParaRPr lang="en-US" dirty="0"/>
          </a:p>
        </p:txBody>
      </p:sp>
      <p:pic>
        <p:nvPicPr>
          <p:cNvPr id="1026" name="Picture 2" descr="Fig. 1: Experiment-free optimization of exoskeleton assistance through learning in simulation.">
            <a:extLst>
              <a:ext uri="{FF2B5EF4-FFF2-40B4-BE49-F238E27FC236}">
                <a16:creationId xmlns:a16="http://schemas.microsoft.com/office/drawing/2014/main" id="{E1F065CF-55D8-E968-EFEB-B835A1299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093" y="0"/>
            <a:ext cx="6858275" cy="685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07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7FBB-E7F6-0C3E-A4C0-62DC02F1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(Fig 5a)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BD3AD-CF26-0C47-8B1A-D4B137A74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3057699" cy="3931920"/>
          </a:xfrm>
        </p:spPr>
        <p:txBody>
          <a:bodyPr/>
          <a:lstStyle/>
          <a:p>
            <a:r>
              <a:rPr lang="en-US" dirty="0"/>
              <a:t>Calculated metabolic cost across</a:t>
            </a:r>
          </a:p>
          <a:p>
            <a:pPr lvl="1"/>
            <a:r>
              <a:rPr lang="en-US" dirty="0"/>
              <a:t>3 conditions (Assistance off, No exoskeleton, Simulated assistance given)</a:t>
            </a:r>
          </a:p>
          <a:p>
            <a:pPr lvl="1"/>
            <a:r>
              <a:rPr lang="en-US" dirty="0"/>
              <a:t>3 tasks (Walking, Running, and Stair Climbing)</a:t>
            </a:r>
          </a:p>
        </p:txBody>
      </p:sp>
      <p:pic>
        <p:nvPicPr>
          <p:cNvPr id="4098" name="Picture 2" descr="Fig. 5: Reduction in metabolic rate during walking, running and stair climbing.">
            <a:extLst>
              <a:ext uri="{FF2B5EF4-FFF2-40B4-BE49-F238E27FC236}">
                <a16:creationId xmlns:a16="http://schemas.microsoft.com/office/drawing/2014/main" id="{9E336E5A-BCC0-AB52-2261-D7131D7844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333"/>
          <a:stretch>
            <a:fillRect/>
          </a:stretch>
        </p:blipFill>
        <p:spPr bwMode="auto">
          <a:xfrm>
            <a:off x="4124499" y="2103120"/>
            <a:ext cx="7863902" cy="422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507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8D3F-7409-D0F2-131B-6328B73D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(Fig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6153-EE14-6FA9-C85E-A0166AABD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2151087" cy="39319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assistive torque was implemented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Visual diagram of task transitions during a single trial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Assistive torque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Assistive power</a:t>
            </a:r>
          </a:p>
        </p:txBody>
      </p:sp>
      <p:pic>
        <p:nvPicPr>
          <p:cNvPr id="5122" name="Picture 2" descr="Fig. 4: Representative assistive torque during various activities and locomotion transitions.">
            <a:extLst>
              <a:ext uri="{FF2B5EF4-FFF2-40B4-BE49-F238E27FC236}">
                <a16:creationId xmlns:a16="http://schemas.microsoft.com/office/drawing/2014/main" id="{D6259076-5313-7067-5124-B306D1540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887" y="2001996"/>
            <a:ext cx="8974113" cy="413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402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49D51-FFF8-4194-F43D-D3F474C3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D757-1FFA-1DA0-2B2E-7D15A6E9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(Fig 5c)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58DFA-4163-6C96-44A8-F60B17E60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2930964" cy="3931920"/>
          </a:xfrm>
        </p:spPr>
        <p:txBody>
          <a:bodyPr/>
          <a:lstStyle/>
          <a:p>
            <a:r>
              <a:rPr lang="en-US" dirty="0"/>
              <a:t>Calculated metabolic cost compared to other work</a:t>
            </a:r>
          </a:p>
          <a:p>
            <a:pPr lvl="1"/>
            <a:r>
              <a:rPr lang="en-US" dirty="0"/>
              <a:t>Across walking, running, and stair climbing</a:t>
            </a:r>
          </a:p>
          <a:p>
            <a:r>
              <a:rPr lang="en-US" dirty="0"/>
              <a:t>Provides type of exoskeleton used as well</a:t>
            </a:r>
          </a:p>
          <a:p>
            <a:pPr lvl="1"/>
            <a:r>
              <a:rPr lang="en-US" dirty="0"/>
              <a:t>Mix of Hip </a:t>
            </a:r>
            <a:r>
              <a:rPr lang="en-US" dirty="0" err="1"/>
              <a:t>exo</a:t>
            </a:r>
            <a:r>
              <a:rPr lang="en-US" dirty="0"/>
              <a:t>, Knee </a:t>
            </a:r>
            <a:r>
              <a:rPr lang="en-US" dirty="0" err="1"/>
              <a:t>exo</a:t>
            </a:r>
            <a:r>
              <a:rPr lang="en-US" dirty="0"/>
              <a:t>, and Ankle </a:t>
            </a:r>
            <a:r>
              <a:rPr lang="en-US" dirty="0" err="1"/>
              <a:t>exo</a:t>
            </a:r>
            <a:endParaRPr lang="en-US" dirty="0"/>
          </a:p>
        </p:txBody>
      </p:sp>
      <p:pic>
        <p:nvPicPr>
          <p:cNvPr id="4098" name="Picture 2" descr="Fig. 5: Reduction in metabolic rate during walking, running and stair climbing.">
            <a:extLst>
              <a:ext uri="{FF2B5EF4-FFF2-40B4-BE49-F238E27FC236}">
                <a16:creationId xmlns:a16="http://schemas.microsoft.com/office/drawing/2014/main" id="{DB2A73CB-19D9-0C5C-13D8-6007795F0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45"/>
          <a:stretch>
            <a:fillRect/>
          </a:stretch>
        </p:blipFill>
        <p:spPr bwMode="auto">
          <a:xfrm>
            <a:off x="3997764" y="1891429"/>
            <a:ext cx="8194236" cy="474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4E8B-2AC7-C955-655B-96A574AC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AF654-D2EB-E0F9-C446-5FB67EBFC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controller trained entirely in simulation can transfer directly to real hardware with no human experiments</a:t>
            </a:r>
          </a:p>
          <a:p>
            <a:r>
              <a:rPr lang="en-US" sz="2400" dirty="0"/>
              <a:t>The learned controller outperforms all prior portable exoskeletons for walking, running, and stair climbing</a:t>
            </a:r>
          </a:p>
          <a:p>
            <a:r>
              <a:rPr lang="en-US" sz="2400" dirty="0"/>
              <a:t>Sim-to-real transfer for wearable robots is a solved or near-solved problem</a:t>
            </a:r>
          </a:p>
        </p:txBody>
      </p:sp>
    </p:spTree>
    <p:extLst>
      <p:ext uri="{BB962C8B-B14F-4D97-AF65-F5344CB8AC3E}">
        <p14:creationId xmlns:p14="http://schemas.microsoft.com/office/powerpoint/2010/main" val="3892293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BB65-B25A-2738-3FDC-B4E4AF575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B351-4723-A94B-3CA0-A9FBC9CB8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A7CC5-B3DB-29FB-6A09-7C3A0AF1A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controller trained entirely in simulation can transfer directly to real hardware with no human experiments</a:t>
            </a:r>
          </a:p>
          <a:p>
            <a:r>
              <a:rPr lang="en-US" sz="2400" dirty="0"/>
              <a:t>The learned controller outperforms all prior portable exoskeletons for walking, running, and stair climbing</a:t>
            </a:r>
          </a:p>
          <a:p>
            <a:r>
              <a:rPr lang="en-US" sz="2400" dirty="0"/>
              <a:t>Sim-to-real transfer for wearable robots is a solved or near-solved problem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paper was so good, it spawned a derivative work</a:t>
            </a:r>
          </a:p>
        </p:txBody>
      </p:sp>
    </p:spTree>
    <p:extLst>
      <p:ext uri="{BB962C8B-B14F-4D97-AF65-F5344CB8AC3E}">
        <p14:creationId xmlns:p14="http://schemas.microsoft.com/office/powerpoint/2010/main" val="2558818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FA7D-3FA2-F4AF-9D22-7E2227E4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B58E06-0957-488B-1D22-069133C40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587" y="244541"/>
            <a:ext cx="9460825" cy="2085300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B0E597F-FE63-6B2A-E550-2BDED3608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85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6CDA-F47B-4574-0249-AB248F5B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40FE5-D5FB-A52C-6B65-9A4D5D7F0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EC756-6925-204A-AB73-6707BD9D4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368" y="3587803"/>
            <a:ext cx="2009467" cy="7435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dirty="0"/>
              <a:t>Steven H. Collins</a:t>
            </a:r>
          </a:p>
          <a:p>
            <a:pPr marL="0" indent="0" algn="ctr">
              <a:buNone/>
            </a:pPr>
            <a:r>
              <a:rPr lang="en-US" sz="1600" dirty="0"/>
              <a:t>Stanford University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EF68E-4091-3380-71F3-F1A71AF2D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587" y="244541"/>
            <a:ext cx="9460825" cy="2085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4CB781-D0B6-9CC2-CED7-61D183CDD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92" y="2404893"/>
            <a:ext cx="1258414" cy="1182909"/>
          </a:xfrm>
          <a:prstGeom prst="rect">
            <a:avLst/>
          </a:prstGeom>
        </p:spPr>
      </p:pic>
      <p:pic>
        <p:nvPicPr>
          <p:cNvPr id="8194" name="Picture 2" descr="Friedl De Groote - Associate Professor ...">
            <a:extLst>
              <a:ext uri="{FF2B5EF4-FFF2-40B4-BE49-F238E27FC236}">
                <a16:creationId xmlns:a16="http://schemas.microsoft.com/office/drawing/2014/main" id="{2A989CDF-501F-3F6E-1963-D91847955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64" y="2367140"/>
            <a:ext cx="1258413" cy="125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062B8A-9F5F-951F-E745-1446B83CC079}"/>
              </a:ext>
            </a:extLst>
          </p:cNvPr>
          <p:cNvSpPr txBox="1">
            <a:spLocks/>
          </p:cNvSpPr>
          <p:nvPr/>
        </p:nvSpPr>
        <p:spPr>
          <a:xfrm>
            <a:off x="2649667" y="3587802"/>
            <a:ext cx="2192341" cy="743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Garamond" pitchFamily="18" charset="0"/>
              <a:buNone/>
            </a:pPr>
            <a:r>
              <a:rPr lang="en-US" sz="1600" dirty="0"/>
              <a:t>Friedl De Groote</a:t>
            </a:r>
          </a:p>
          <a:p>
            <a:pPr marL="0" indent="0" algn="ctr">
              <a:buFont typeface="Garamond" pitchFamily="18" charset="0"/>
              <a:buNone/>
            </a:pPr>
            <a:r>
              <a:rPr lang="en-US" sz="1600" dirty="0"/>
              <a:t>University of Leuven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8033EF-66EF-3506-D334-46C21AB2C464}"/>
              </a:ext>
            </a:extLst>
          </p:cNvPr>
          <p:cNvSpPr txBox="1">
            <a:spLocks/>
          </p:cNvSpPr>
          <p:nvPr/>
        </p:nvSpPr>
        <p:spPr>
          <a:xfrm>
            <a:off x="2410358" y="6509009"/>
            <a:ext cx="7371281" cy="467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Garamond" pitchFamily="18" charset="0"/>
              <a:buNone/>
            </a:pPr>
            <a:r>
              <a:rPr lang="en-US" dirty="0"/>
              <a:t>H-index values taken from google scholar</a:t>
            </a:r>
          </a:p>
        </p:txBody>
      </p:sp>
      <p:pic>
        <p:nvPicPr>
          <p:cNvPr id="8196" name="Picture 4" descr="Robert D. Gregg">
            <a:extLst>
              <a:ext uri="{FF2B5EF4-FFF2-40B4-BE49-F238E27FC236}">
                <a16:creationId xmlns:a16="http://schemas.microsoft.com/office/drawing/2014/main" id="{C55FA109-298D-5A9B-C10B-A3FE2F6E3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637" y="2386746"/>
            <a:ext cx="120015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74F7B6-B034-C66F-87ED-83206E4EFBF0}"/>
              </a:ext>
            </a:extLst>
          </p:cNvPr>
          <p:cNvSpPr txBox="1">
            <a:spLocks/>
          </p:cNvSpPr>
          <p:nvPr/>
        </p:nvSpPr>
        <p:spPr>
          <a:xfrm>
            <a:off x="4923840" y="3606208"/>
            <a:ext cx="2344316" cy="743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Garamond" pitchFamily="18" charset="0"/>
              <a:buNone/>
            </a:pPr>
            <a:r>
              <a:rPr lang="en-US" sz="1600" dirty="0"/>
              <a:t>Robert D. Gregg</a:t>
            </a:r>
          </a:p>
          <a:p>
            <a:pPr marL="0" indent="0" algn="ctr">
              <a:buFont typeface="Garamond" pitchFamily="18" charset="0"/>
              <a:buNone/>
            </a:pPr>
            <a:r>
              <a:rPr lang="en-US" sz="1600" dirty="0"/>
              <a:t>University of Michigan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3C0349-8FCA-6F64-EDD1-17DDF69B2213}"/>
              </a:ext>
            </a:extLst>
          </p:cNvPr>
          <p:cNvSpPr txBox="1">
            <a:spLocks/>
          </p:cNvSpPr>
          <p:nvPr/>
        </p:nvSpPr>
        <p:spPr>
          <a:xfrm>
            <a:off x="7155584" y="3587802"/>
            <a:ext cx="2438198" cy="9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Garamond" pitchFamily="18" charset="0"/>
              <a:buNone/>
            </a:pPr>
            <a:r>
              <a:rPr lang="en-US" sz="1600" dirty="0"/>
              <a:t>He (Helen) Huang</a:t>
            </a:r>
          </a:p>
          <a:p>
            <a:pPr marL="0" indent="0" algn="ctr">
              <a:buFont typeface="Garamond" pitchFamily="18" charset="0"/>
              <a:buNone/>
            </a:pPr>
            <a:r>
              <a:rPr lang="en-US" sz="1600" dirty="0"/>
              <a:t>The University of North Carolina at Chapel Hill</a:t>
            </a:r>
          </a:p>
        </p:txBody>
      </p:sp>
      <p:pic>
        <p:nvPicPr>
          <p:cNvPr id="8198" name="Picture 6" descr="He (Helen) Huang">
            <a:extLst>
              <a:ext uri="{FF2B5EF4-FFF2-40B4-BE49-F238E27FC236}">
                <a16:creationId xmlns:a16="http://schemas.microsoft.com/office/drawing/2014/main" id="{0DDB7796-FBDF-E253-4D3F-1547E30FE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131" y="2404893"/>
            <a:ext cx="1244210" cy="124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C1DD54-F6B3-9C0C-7BFF-D2CD9879FD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3162" y="2415407"/>
            <a:ext cx="1641928" cy="1131106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C8D3FFE-3E98-7487-7144-1694C6B701B3}"/>
              </a:ext>
            </a:extLst>
          </p:cNvPr>
          <p:cNvSpPr txBox="1">
            <a:spLocks/>
          </p:cNvSpPr>
          <p:nvPr/>
        </p:nvSpPr>
        <p:spPr>
          <a:xfrm>
            <a:off x="9593782" y="3605946"/>
            <a:ext cx="2111586" cy="9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Garamond" pitchFamily="18" charset="0"/>
              <a:buNone/>
            </a:pPr>
            <a:r>
              <a:rPr lang="en-US" sz="1600" dirty="0"/>
              <a:t>Tomasso Lenzi</a:t>
            </a:r>
          </a:p>
          <a:p>
            <a:pPr marL="0" indent="0" algn="ctr">
              <a:buFont typeface="Garamond" pitchFamily="18" charset="0"/>
              <a:buNone/>
            </a:pPr>
            <a:r>
              <a:rPr lang="en-US" sz="1600" dirty="0"/>
              <a:t>University of Utah</a:t>
            </a:r>
          </a:p>
        </p:txBody>
      </p:sp>
    </p:spTree>
    <p:extLst>
      <p:ext uri="{BB962C8B-B14F-4D97-AF65-F5344CB8AC3E}">
        <p14:creationId xmlns:p14="http://schemas.microsoft.com/office/powerpoint/2010/main" val="1214620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2DBD-3FC0-91B5-F1BB-08D80F72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642594"/>
            <a:ext cx="10156257" cy="1371600"/>
          </a:xfrm>
        </p:spPr>
        <p:txBody>
          <a:bodyPr>
            <a:normAutofit/>
          </a:bodyPr>
          <a:lstStyle/>
          <a:p>
            <a:r>
              <a:rPr lang="en-US" sz="4400" dirty="0"/>
              <a:t>1: The results violate basic 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C8E9B-A0DA-4BF0-20EC-AADAE33B0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6F88-88CE-68A3-69C8-1D41198E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2: A replication study found nothing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466F-4EDA-5D3E-E9F2-0A5AE7DAD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57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5ADE-AA4A-E61F-89DB-23CFF7BF1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642594"/>
            <a:ext cx="10445015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3: The method cannot be reproduced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FCAF-ABE6-FF3C-4672-FA1F9E29C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3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51E8-9EDF-E7D8-0FE8-47188C92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Key(er)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43D5C-6570-2299-E96A-237B53C21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278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1F44-937A-77D5-0EE7-735394B9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17756-D37D-36F0-E1BD-AED1EF33F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Luo, S., Jiang, M., Zhang, S. </a:t>
            </a:r>
            <a:r>
              <a:rPr lang="en-US" i="1" dirty="0"/>
              <a:t>et al.</a:t>
            </a:r>
            <a:r>
              <a:rPr lang="en-US" dirty="0"/>
              <a:t> Experiment-free exoskeleton assistance via learning in simulation. </a:t>
            </a:r>
            <a:r>
              <a:rPr lang="en-US" i="1" dirty="0"/>
              <a:t>Nature</a:t>
            </a:r>
            <a:r>
              <a:rPr lang="en-US" dirty="0"/>
              <a:t> </a:t>
            </a:r>
            <a:r>
              <a:rPr lang="en-US" b="1" dirty="0"/>
              <a:t>630</a:t>
            </a:r>
            <a:r>
              <a:rPr lang="en-US" dirty="0"/>
              <a:t>, 353–359 (2024). </a:t>
            </a:r>
            <a:r>
              <a:rPr lang="en-US" dirty="0">
                <a:hlinkClick r:id="rId2"/>
              </a:rPr>
              <a:t>https://doi.org/10.1038/s41586-024-07382-4</a:t>
            </a:r>
            <a:r>
              <a:rPr lang="en-US" dirty="0"/>
              <a:t> </a:t>
            </a:r>
          </a:p>
          <a:p>
            <a:r>
              <a:rPr lang="en-US" dirty="0"/>
              <a:t>Collins, S. H., De Groote, F., Gregg, R. D., Huang, H., Lenzi, T., Sartori, M., Sawicki, G. S., Si, J., Slade, P., &amp; Young, A. J. (2026). </a:t>
            </a:r>
            <a:r>
              <a:rPr lang="en-US" i="1" dirty="0"/>
              <a:t>Experiment-free learning of exoskeleton assistance remains an unsolved problem.</a:t>
            </a:r>
            <a:r>
              <a:rPr lang="en-US" dirty="0"/>
              <a:t> bioRxiv. </a:t>
            </a:r>
            <a:r>
              <a:rPr lang="en-US" dirty="0">
                <a:hlinkClick r:id="rId3"/>
              </a:rPr>
              <a:t>https://doi.org/10.64898/2026.04.01.715109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684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88</TotalTime>
  <Words>569</Words>
  <Application>Microsoft Office PowerPoint</Application>
  <PresentationFormat>Widescreen</PresentationFormat>
  <Paragraphs>61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Century Gothic</vt:lpstr>
      <vt:lpstr>Garamond</vt:lpstr>
      <vt:lpstr>Savon</vt:lpstr>
      <vt:lpstr>Experiment-Free Exoskeleton Assistance Via Learning In Simulation</vt:lpstr>
      <vt:lpstr>Motivation for this work.</vt:lpstr>
      <vt:lpstr>Methods (Fig 1)</vt:lpstr>
      <vt:lpstr>Results (Fig 5a)</vt:lpstr>
      <vt:lpstr>Results (Fig 4)</vt:lpstr>
      <vt:lpstr>Results (Fig 5c)</vt:lpstr>
      <vt:lpstr>Key takeaways</vt:lpstr>
      <vt:lpstr>Key takeaways</vt:lpstr>
      <vt:lpstr>PowerPoint Presentation</vt:lpstr>
      <vt:lpstr>PowerPoint Presentation</vt:lpstr>
      <vt:lpstr>1: The results violate basic physiology</vt:lpstr>
      <vt:lpstr>2: A replication study found nothing</vt:lpstr>
      <vt:lpstr>3: The method cannot be reproduced</vt:lpstr>
      <vt:lpstr>Key(er) takeaways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Zielinski, Dominik Tomasz</dc:creator>
  <cp:lastModifiedBy>Zielinski, Dominik Tomasz</cp:lastModifiedBy>
  <cp:revision>2</cp:revision>
  <dcterms:created xsi:type="dcterms:W3CDTF">2026-04-21T01:54:30Z</dcterms:created>
  <dcterms:modified xsi:type="dcterms:W3CDTF">2026-04-21T03:23:10Z</dcterms:modified>
</cp:coreProperties>
</file>